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Open Sans"/>
      <p:regular r:id="rId43"/>
      <p:bold r:id="rId44"/>
      <p:italic r:id="rId45"/>
      <p:boldItalic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OpenSans-bold.fntdata"/><Relationship Id="rId43" Type="http://schemas.openxmlformats.org/officeDocument/2006/relationships/font" Target="fonts/OpenSans-regular.fntdata"/><Relationship Id="rId46" Type="http://schemas.openxmlformats.org/officeDocument/2006/relationships/font" Target="fonts/OpenSans-boldItalic.fntdata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02840aa4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dc02840aa4_3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02840aa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dc02840aa4_3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02840aa4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dc02840aa4_3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02840aa4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dc02840aa4_3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a6f95cd4a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9a6f95cd4a_2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81b8112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9a81b81126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6f95cd4a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9a6f95cd4a_2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a81b8112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9a81b81126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81b811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a81b81126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a81b8112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9a81b81126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6f95cd4a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9a6f95cd4a_2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6f95cd4a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9a6f95cd4a_2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a81b8112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9a81b81126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81b8112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9a81b81126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6f95cd4a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9a6f95cd4a_2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a6f95cd4a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9a6f95cd4a_2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a81b8112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9a81b81126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81b8112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9a81b81126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6f95cd4a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a6f95cd4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e9d08520_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ae9d08520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e9d08520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ae9d08520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ae9d08520_2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ae9d08520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ae9d08520_2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ae9d08520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ae9d08520_2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ae9d08520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baa32a1c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baa32a1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baa32a1ca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baa32a1c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baa32a1ca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baa32a1c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baa32a1ca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baa32a1c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baa32a1ca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baa32a1c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baa32a1ca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baa32a1c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baa32a1ca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baa32a1c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baa32a1ca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baa32a1c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ae9d0852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ae9d085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018" y="6251712"/>
            <a:ext cx="1879044" cy="4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84408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233"/>
              </a:buClr>
              <a:buSzPts val="2400"/>
              <a:buNone/>
              <a:defRPr b="0" i="0" sz="2400">
                <a:solidFill>
                  <a:srgbClr val="3032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460513" y="2547488"/>
            <a:ext cx="11270974" cy="10549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Slideshow Title on Master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2"/>
          <p:cNvCxnSpPr/>
          <p:nvPr/>
        </p:nvCxnSpPr>
        <p:spPr>
          <a:xfrm>
            <a:off x="658761" y="3651646"/>
            <a:ext cx="10903974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365126"/>
            <a:ext cx="10515600" cy="1095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  <a:defRPr b="1" i="0" sz="4000">
                <a:solidFill>
                  <a:srgbClr val="B32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530625"/>
            <a:ext cx="10515600" cy="45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Char char="•"/>
              <a:defRPr b="0" i="0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4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0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838200" y="1461052"/>
            <a:ext cx="10515600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31850" y="1709738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6000"/>
              <a:buFont typeface="Arial"/>
              <a:buNone/>
              <a:defRPr b="0" i="0" sz="6000">
                <a:solidFill>
                  <a:srgbClr val="B32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1850" y="3209925"/>
            <a:ext cx="10515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2400"/>
              <a:buNone/>
              <a:defRPr b="0" i="0" sz="24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2000"/>
              <a:buNone/>
              <a:defRPr sz="2000">
                <a:solidFill>
                  <a:srgbClr val="8F9093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800"/>
              <a:buNone/>
              <a:defRPr sz="1800">
                <a:solidFill>
                  <a:srgbClr val="8F9093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600"/>
              <a:buNone/>
              <a:defRPr sz="1600">
                <a:solidFill>
                  <a:srgbClr val="8F9093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600"/>
              <a:buNone/>
              <a:defRPr sz="1600">
                <a:solidFill>
                  <a:srgbClr val="8F9093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600"/>
              <a:buNone/>
              <a:defRPr sz="1600">
                <a:solidFill>
                  <a:srgbClr val="8F9093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600"/>
              <a:buNone/>
              <a:defRPr sz="1600">
                <a:solidFill>
                  <a:srgbClr val="8F9093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600"/>
              <a:buNone/>
              <a:defRPr sz="1600">
                <a:solidFill>
                  <a:srgbClr val="8F9093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F9093"/>
              </a:buClr>
              <a:buSzPts val="1600"/>
              <a:buNone/>
              <a:defRPr sz="1600">
                <a:solidFill>
                  <a:srgbClr val="8F9093"/>
                </a:solidFill>
              </a:defRPr>
            </a:lvl9pPr>
          </a:lstStyle>
          <a:p/>
        </p:txBody>
      </p:sp>
      <p:cxnSp>
        <p:nvCxnSpPr>
          <p:cNvPr id="23" name="Google Shape;23;p4"/>
          <p:cNvCxnSpPr/>
          <p:nvPr/>
        </p:nvCxnSpPr>
        <p:spPr>
          <a:xfrm>
            <a:off x="838200" y="3209925"/>
            <a:ext cx="10515600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38200" y="365126"/>
            <a:ext cx="10515600" cy="1095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  <a:defRPr b="1" i="0" sz="4000">
                <a:solidFill>
                  <a:srgbClr val="B32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530627"/>
            <a:ext cx="5181600" cy="4646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Char char="•"/>
              <a:defRPr b="0" i="0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4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0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172200" y="1530627"/>
            <a:ext cx="5181600" cy="4646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Char char="•"/>
              <a:defRPr b="0" i="0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4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0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8" name="Google Shape;28;p5"/>
          <p:cNvCxnSpPr/>
          <p:nvPr/>
        </p:nvCxnSpPr>
        <p:spPr>
          <a:xfrm>
            <a:off x="838200" y="1461052"/>
            <a:ext cx="10515600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839788" y="365126"/>
            <a:ext cx="10515600" cy="1086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  <a:defRPr b="1" i="0" sz="4000">
                <a:solidFill>
                  <a:srgbClr val="B32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839788" y="1681163"/>
            <a:ext cx="5157787" cy="5942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  <a:defRPr b="1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839788" y="2425148"/>
            <a:ext cx="5157787" cy="37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Char char="•"/>
              <a:defRPr b="0" i="0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4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0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3" type="body"/>
          </p:nvPr>
        </p:nvSpPr>
        <p:spPr>
          <a:xfrm>
            <a:off x="6172200" y="1681163"/>
            <a:ext cx="5183188" cy="594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  <a:defRPr b="1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7"/>
          <p:cNvSpPr txBox="1"/>
          <p:nvPr>
            <p:ph idx="4" type="body"/>
          </p:nvPr>
        </p:nvSpPr>
        <p:spPr>
          <a:xfrm>
            <a:off x="6172200" y="2425148"/>
            <a:ext cx="5183188" cy="37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Char char="•"/>
              <a:defRPr b="0" i="0" sz="30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4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20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A4048"/>
              </a:buClr>
              <a:buSzPts val="1800"/>
              <a:buChar char="•"/>
              <a:defRPr b="0" i="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6" name="Google Shape;36;p7"/>
          <p:cNvCxnSpPr/>
          <p:nvPr/>
        </p:nvCxnSpPr>
        <p:spPr>
          <a:xfrm>
            <a:off x="838200" y="1461052"/>
            <a:ext cx="10515600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9788" y="457200"/>
            <a:ext cx="3932237" cy="14809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  <a:defRPr b="1" i="0" sz="4000">
                <a:solidFill>
                  <a:srgbClr val="B320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1600"/>
              <a:buNone/>
              <a:defRPr b="0" i="0" sz="1600">
                <a:solidFill>
                  <a:srgbClr val="3A404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41" name="Google Shape;41;p8"/>
          <p:cNvCxnSpPr/>
          <p:nvPr/>
        </p:nvCxnSpPr>
        <p:spPr>
          <a:xfrm>
            <a:off x="838200" y="1997766"/>
            <a:ext cx="3933825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11499574" y="6360309"/>
            <a:ext cx="459408" cy="215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3A4048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800" u="none" cap="none" strike="noStrike">
              <a:solidFill>
                <a:srgbClr val="3A404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3018" y="6251712"/>
            <a:ext cx="1879044" cy="469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9845523" y="6367628"/>
            <a:ext cx="165983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048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A4048"/>
                </a:solidFill>
                <a:latin typeface="Open Sans"/>
                <a:ea typeface="Open Sans"/>
                <a:cs typeface="Open Sans"/>
                <a:sym typeface="Open Sans"/>
              </a:rPr>
              <a:t>© 2025 Cornell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/>
        </p:nvSpPr>
        <p:spPr>
          <a:xfrm>
            <a:off x="407050" y="1908950"/>
            <a:ext cx="11446500" cy="165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accent2"/>
                </a:solidFill>
              </a:rPr>
              <a:t>Acreage Estimation and Uncertainty Quantification for New York State</a:t>
            </a:r>
            <a:endParaRPr b="1" sz="4500">
              <a:solidFill>
                <a:schemeClr val="accent2"/>
              </a:solidFill>
            </a:endParaRPr>
          </a:p>
        </p:txBody>
      </p:sp>
      <p:cxnSp>
        <p:nvCxnSpPr>
          <p:cNvPr id="47" name="Google Shape;47;p9"/>
          <p:cNvCxnSpPr/>
          <p:nvPr/>
        </p:nvCxnSpPr>
        <p:spPr>
          <a:xfrm>
            <a:off x="658761" y="3681142"/>
            <a:ext cx="10904100" cy="0"/>
          </a:xfrm>
          <a:prstGeom prst="straightConnector1">
            <a:avLst/>
          </a:prstGeom>
          <a:noFill/>
          <a:ln cap="flat" cmpd="sng" w="38100">
            <a:solidFill>
              <a:srgbClr val="DCDCD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1524011" y="4087210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233"/>
              </a:buClr>
              <a:buSzPts val="2400"/>
              <a:buFont typeface="Arial"/>
              <a:buNone/>
            </a:pPr>
            <a:r>
              <a:rPr lang="en-US"/>
              <a:t>MPS in Applied Statistics and Data Science Capstone Project</a:t>
            </a:r>
            <a:endParaRPr/>
          </a:p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233"/>
              </a:buClr>
              <a:buSzPts val="2400"/>
              <a:buNone/>
            </a:pPr>
            <a:r>
              <a:t/>
            </a:r>
            <a:endParaRPr/>
          </a:p>
          <a:p>
            <a:pPr indent="-4064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03233"/>
              </a:buClr>
              <a:buSzPts val="2400"/>
              <a:buFont typeface="Arial"/>
              <a:buNone/>
            </a:pPr>
            <a:r>
              <a:rPr lang="en-US" sz="1900"/>
              <a:t>By Tony Yik-Hau Au (ya293), Wenlin Huang (wh539), Sirui Cao (sc3554), Yuheng Shen (ys2393), Yiyou Jin (yj583)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838200" y="365126"/>
            <a:ext cx="10515600" cy="1095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838200" y="1530625"/>
            <a:ext cx="10515600" cy="45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>
                <a:solidFill>
                  <a:schemeClr val="dk1"/>
                </a:solidFill>
              </a:rPr>
              <a:t>Motivation &amp; objective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>
                <a:solidFill>
                  <a:schemeClr val="dk1"/>
                </a:solidFill>
              </a:rPr>
              <a:t>Data &amp; feature engineering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>
                <a:solidFill>
                  <a:schemeClr val="dk1"/>
                </a:solidFill>
              </a:rPr>
              <a:t>Modeling &amp; </a:t>
            </a:r>
            <a:r>
              <a:rPr lang="en-US">
                <a:solidFill>
                  <a:schemeClr val="dk1"/>
                </a:solidFill>
              </a:rPr>
              <a:t>Evaluation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>
                <a:solidFill>
                  <a:schemeClr val="dk1"/>
                </a:solidFill>
              </a:rPr>
              <a:t>Summary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pPr>
            <a:r>
              <a:rPr lang="en-US">
                <a:solidFill>
                  <a:schemeClr val="dk1"/>
                </a:solidFill>
              </a:rPr>
              <a:t>Area for improvement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838200" y="1530625"/>
            <a:ext cx="105156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-US" sz="2600">
                <a:solidFill>
                  <a:schemeClr val="dk1"/>
                </a:solidFill>
              </a:rPr>
              <a:t>US farmland in New York State has been declining over time</a:t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-US" sz="2600">
                <a:solidFill>
                  <a:schemeClr val="dk1"/>
                </a:solidFill>
              </a:rPr>
              <a:t>Farm operations face rising costs and </a:t>
            </a:r>
            <a:r>
              <a:rPr lang="en-US" sz="2600">
                <a:solidFill>
                  <a:schemeClr val="dk1"/>
                </a:solidFill>
              </a:rPr>
              <a:t>financial</a:t>
            </a:r>
            <a:r>
              <a:rPr lang="en-US" sz="2600">
                <a:solidFill>
                  <a:schemeClr val="dk1"/>
                </a:solidFill>
              </a:rPr>
              <a:t> pressure</a:t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-US" sz="2600">
                <a:solidFill>
                  <a:schemeClr val="dk1"/>
                </a:solidFill>
              </a:rPr>
              <a:t>Uncertainty in agricultural land use affects future food supply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-US" sz="2600">
                <a:solidFill>
                  <a:schemeClr val="dk1"/>
                </a:solidFill>
              </a:rPr>
              <a:t>Forecasting</a:t>
            </a:r>
            <a:r>
              <a:rPr lang="en-US" sz="2600">
                <a:solidFill>
                  <a:schemeClr val="dk1"/>
                </a:solidFill>
              </a:rPr>
              <a:t> acreage helps improve planning and decision-making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Motivation</a:t>
            </a:r>
            <a:endParaRPr/>
          </a:p>
        </p:txBody>
      </p:sp>
      <p:pic>
        <p:nvPicPr>
          <p:cNvPr id="66" name="Google Shape;66;p12" title="cbc3c8cddb368371ff640e6dd607cf7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775" y="2538300"/>
            <a:ext cx="9420324" cy="37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2"/>
          <p:cNvSpPr txBox="1"/>
          <p:nvPr/>
        </p:nvSpPr>
        <p:spPr>
          <a:xfrm>
            <a:off x="1213675" y="1644350"/>
            <a:ext cx="89721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Decline in farmland area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Motivation</a:t>
            </a:r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075" y="2349050"/>
            <a:ext cx="5173600" cy="38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1102775" y="1579100"/>
            <a:ext cx="67926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Increasing farm production expenditures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838200" y="1530625"/>
            <a:ext cx="105156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Utilize </a:t>
            </a:r>
            <a:r>
              <a:rPr lang="en-US" sz="2500">
                <a:solidFill>
                  <a:srgbClr val="1F3864"/>
                </a:solidFill>
              </a:rPr>
              <a:t>historical</a:t>
            </a:r>
            <a:r>
              <a:rPr lang="en-US" sz="2500">
                <a:solidFill>
                  <a:srgbClr val="1F3864"/>
                </a:solidFill>
              </a:rPr>
              <a:t> crop spatial, weather and soil data</a:t>
            </a:r>
            <a:endParaRPr sz="25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Develop a predictive model to </a:t>
            </a:r>
            <a:r>
              <a:rPr lang="en-US" sz="2500">
                <a:solidFill>
                  <a:srgbClr val="1F3864"/>
                </a:solidFill>
              </a:rPr>
              <a:t>forecast</a:t>
            </a:r>
            <a:r>
              <a:rPr lang="en-US" sz="2500">
                <a:solidFill>
                  <a:srgbClr val="1F3864"/>
                </a:solidFill>
              </a:rPr>
              <a:t> crop-specific acreage at the county level in New York State</a:t>
            </a:r>
            <a:endParaRPr sz="25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Predict future acreage trends across crops and regions</a:t>
            </a:r>
            <a:endParaRPr sz="25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Support data-driven decision making for farmers and policymakers</a:t>
            </a:r>
            <a:endParaRPr sz="25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220">
                <a:solidFill>
                  <a:srgbClr val="C00000"/>
                </a:solidFill>
              </a:rPr>
              <a:t>Data - CSB (Crop Sequence Boundaries)</a:t>
            </a:r>
            <a:endParaRPr sz="3500"/>
          </a:p>
        </p:txBody>
      </p:sp>
      <p:pic>
        <p:nvPicPr>
          <p:cNvPr id="86" name="Google Shape;86;p15" title="Screenshot 2026-05-04 at 11.17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0596" y="1496813"/>
            <a:ext cx="3324026" cy="479052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838200" y="1530625"/>
            <a:ext cx="7487700" cy="47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A satellite-derived dataset </a:t>
            </a:r>
            <a:r>
              <a:rPr lang="en-US" sz="2300">
                <a:solidFill>
                  <a:srgbClr val="1F3864"/>
                </a:solidFill>
              </a:rPr>
              <a:t>across the contiguous U.S. on agriculture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Year: 2008-2024 (Annual)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Column: (polygon level)</a:t>
            </a:r>
            <a:endParaRPr sz="2300">
              <a:solidFill>
                <a:srgbClr val="1F3864"/>
              </a:solidFill>
            </a:endParaRPr>
          </a:p>
          <a:p>
            <a:pPr indent="-374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Field-level crop rotations</a:t>
            </a:r>
            <a:endParaRPr sz="2300">
              <a:solidFill>
                <a:srgbClr val="1F3864"/>
              </a:solidFill>
            </a:endParaRPr>
          </a:p>
          <a:p>
            <a:pPr indent="-374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Crop type</a:t>
            </a:r>
            <a:endParaRPr sz="2300">
              <a:solidFill>
                <a:srgbClr val="1F3864"/>
              </a:solidFill>
            </a:endParaRPr>
          </a:p>
          <a:p>
            <a:pPr indent="-374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Acreage (in CDL)</a:t>
            </a:r>
            <a:endParaRPr sz="2300">
              <a:solidFill>
                <a:srgbClr val="1F3864"/>
              </a:solidFill>
            </a:endParaRPr>
          </a:p>
          <a:p>
            <a:pPr indent="-374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Geometric information (county, state, longitude and latitude)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The data is grouped and merged in a wide format. (1,553,005 polygons)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-"/>
            </a:pPr>
            <a:r>
              <a:rPr lang="en-US" sz="2300">
                <a:solidFill>
                  <a:srgbClr val="1F3864"/>
                </a:solidFill>
              </a:rPr>
              <a:t>The </a:t>
            </a:r>
            <a:r>
              <a:rPr lang="en-US" sz="2300">
                <a:solidFill>
                  <a:srgbClr val="1F3864"/>
                </a:solidFill>
              </a:rPr>
              <a:t>coding</a:t>
            </a:r>
            <a:r>
              <a:rPr lang="en-US" sz="2300">
                <a:solidFill>
                  <a:srgbClr val="1F3864"/>
                </a:solidFill>
              </a:rPr>
              <a:t> logic of the item is obtained from USDA website.</a:t>
            </a:r>
            <a:endParaRPr sz="230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38200" y="1530625"/>
            <a:ext cx="105768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Heavy right skewed</a:t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Fat Right tail</a:t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Balanced across County</a:t>
            </a:r>
            <a:endParaRPr sz="2500">
              <a:solidFill>
                <a:srgbClr val="1F3864"/>
              </a:solidFill>
            </a:endParaRPr>
          </a:p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Data - </a:t>
            </a:r>
            <a:r>
              <a:rPr lang="en-US" sz="4800">
                <a:solidFill>
                  <a:srgbClr val="C00000"/>
                </a:solidFill>
              </a:rPr>
              <a:t>Acreage</a:t>
            </a:r>
            <a:r>
              <a:rPr lang="en-US" sz="4800">
                <a:solidFill>
                  <a:srgbClr val="C00000"/>
                </a:solidFill>
              </a:rPr>
              <a:t> Distribution</a:t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00" y="3722275"/>
            <a:ext cx="6588350" cy="23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2600" y="3722275"/>
            <a:ext cx="4398205" cy="22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1109565" y="3228485"/>
            <a:ext cx="53166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Skewness: </a:t>
            </a:r>
            <a:r>
              <a:rPr lang="en-US" sz="2000">
                <a:solidFill>
                  <a:srgbClr val="1F3864"/>
                </a:solidFill>
              </a:rPr>
              <a:t>raw: 6.9 vs log-transformed: 1.4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Data - Geometric Data</a:t>
            </a:r>
            <a:endParaRPr/>
          </a:p>
        </p:txBody>
      </p:sp>
      <p:pic>
        <p:nvPicPr>
          <p:cNvPr id="102" name="Google Shape;102;p17" title="ny_crop_type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50" y="2765675"/>
            <a:ext cx="4972657" cy="361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ny_rotation_strategy_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668" y="2765675"/>
            <a:ext cx="4972657" cy="36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838200" y="1530625"/>
            <a:ext cx="105156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The CSB dataset captured the polygon data by specifying their longitude and latitude. </a:t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The data is in parquet format to store the geometric label</a:t>
            </a:r>
            <a:endParaRPr sz="200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Data - Rotational Strategy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38200" y="1530625"/>
            <a:ext cx="105156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Char char="-"/>
            </a:pPr>
            <a:r>
              <a:rPr lang="en-US" sz="2000">
                <a:solidFill>
                  <a:srgbClr val="1F3864"/>
                </a:solidFill>
              </a:rPr>
              <a:t>The rotational strategies spanned large dimensions of column</a:t>
            </a:r>
            <a:endParaRPr sz="2000">
              <a:solidFill>
                <a:srgbClr val="1F3864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Char char="-"/>
            </a:pPr>
            <a:r>
              <a:rPr lang="en-US" sz="2000">
                <a:solidFill>
                  <a:srgbClr val="1F3864"/>
                </a:solidFill>
              </a:rPr>
              <a:t>We decided to group the strategy type to simply the model and balance the data</a:t>
            </a:r>
            <a:endParaRPr sz="2000">
              <a:solidFill>
                <a:srgbClr val="1F3864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Char char="-"/>
            </a:pPr>
            <a:r>
              <a:rPr lang="en-US" sz="2000">
                <a:solidFill>
                  <a:srgbClr val="1F3864"/>
                </a:solidFill>
              </a:rPr>
              <a:t>Potential issue: smoothed out the trend and specific strategy feature</a:t>
            </a:r>
            <a:endParaRPr sz="2000">
              <a:solidFill>
                <a:srgbClr val="1F3864"/>
              </a:solidFill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64" y="2903449"/>
            <a:ext cx="5118779" cy="3418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0650" y="2824000"/>
            <a:ext cx="5118786" cy="3497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Data - Class Imbalance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00" y="2875806"/>
            <a:ext cx="5494973" cy="340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2498" y="2826456"/>
            <a:ext cx="3587936" cy="3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8200" y="1530625"/>
            <a:ext cx="105156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3864"/>
                </a:solidFill>
              </a:rPr>
              <a:t>We observed a class imbalance issue for the plant strategy in the CSB data in terms of the total acreage, but the class is balanced in polygon level</a:t>
            </a:r>
            <a:endParaRPr sz="180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Data - Autocorrelation</a:t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825" y="2766950"/>
            <a:ext cx="5126184" cy="3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838200" y="1530625"/>
            <a:ext cx="112131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A</a:t>
            </a:r>
            <a:r>
              <a:rPr lang="en-US" sz="2500">
                <a:solidFill>
                  <a:srgbClr val="1F3864"/>
                </a:solidFill>
              </a:rPr>
              <a:t>creage exhibited the autocorrelation according to the ACF plot</a:t>
            </a:r>
            <a:endParaRPr sz="2500">
              <a:solidFill>
                <a:srgbClr val="1F3864"/>
              </a:solidFill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6075" y="2565575"/>
            <a:ext cx="6255324" cy="356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1825500" y="2318896"/>
            <a:ext cx="2960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Acreage</a:t>
            </a:r>
            <a:r>
              <a:rPr lang="en-US" sz="2000">
                <a:solidFill>
                  <a:schemeClr val="dk1"/>
                </a:solidFill>
              </a:rPr>
              <a:t> per crop type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838200" y="1530625"/>
            <a:ext cx="105156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3864"/>
                </a:solidFill>
              </a:rPr>
              <a:t>-a panel of county-level weekly weather observations, containing detailed temperature, precipitation, growing degree days, and aridity measures along with their deviations from historical norms and prior periods.</a:t>
            </a:r>
            <a:endParaRPr sz="19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21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Data - Weather Data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845850" y="2491825"/>
            <a:ext cx="10500300" cy="29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3864"/>
                </a:solidFill>
              </a:rPr>
              <a:t>variables:</a:t>
            </a:r>
            <a:endParaRPr sz="1900">
              <a:solidFill>
                <a:srgbClr val="1F386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entury Gothic"/>
              <a:buChar char="●"/>
            </a:pPr>
            <a:r>
              <a:rPr b="1" lang="en-US" sz="1900">
                <a:solidFill>
                  <a:srgbClr val="1F3864"/>
                </a:solidFill>
              </a:rPr>
              <a:t>avgt</a:t>
            </a:r>
            <a:r>
              <a:rPr lang="en-US" sz="1900">
                <a:solidFill>
                  <a:srgbClr val="1F3864"/>
                </a:solidFill>
              </a:rPr>
              <a:t> </a:t>
            </a:r>
            <a:r>
              <a:rPr i="1" lang="en-US" sz="1900">
                <a:solidFill>
                  <a:srgbClr val="1F3864"/>
                </a:solidFill>
              </a:rPr>
              <a:t>(Average temperature)</a:t>
            </a:r>
            <a:r>
              <a:rPr lang="en-US" sz="1900">
                <a:solidFill>
                  <a:srgbClr val="1F3864"/>
                </a:solidFill>
              </a:rPr>
              <a:t> — Mean air temperature over the specified period (°F).</a:t>
            </a:r>
            <a:endParaRPr sz="1900">
              <a:solidFill>
                <a:srgbClr val="1F386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entury Gothic"/>
              <a:buChar char="●"/>
            </a:pPr>
            <a:r>
              <a:rPr b="1" lang="en-US" sz="1900">
                <a:solidFill>
                  <a:srgbClr val="1F3864"/>
                </a:solidFill>
              </a:rPr>
              <a:t>mint</a:t>
            </a:r>
            <a:r>
              <a:rPr lang="en-US" sz="1900">
                <a:solidFill>
                  <a:srgbClr val="1F3864"/>
                </a:solidFill>
              </a:rPr>
              <a:t> </a:t>
            </a:r>
            <a:r>
              <a:rPr i="1" lang="en-US" sz="1900">
                <a:solidFill>
                  <a:srgbClr val="1F3864"/>
                </a:solidFill>
              </a:rPr>
              <a:t>(Minimum temperature)</a:t>
            </a:r>
            <a:r>
              <a:rPr lang="en-US" sz="1900">
                <a:solidFill>
                  <a:srgbClr val="1F3864"/>
                </a:solidFill>
              </a:rPr>
              <a:t> — Lowest recorded air temperature during the period (°F).</a:t>
            </a:r>
            <a:endParaRPr sz="1900">
              <a:solidFill>
                <a:srgbClr val="1F386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entury Gothic"/>
              <a:buChar char="●"/>
            </a:pPr>
            <a:r>
              <a:rPr b="1" lang="en-US" sz="1900">
                <a:solidFill>
                  <a:srgbClr val="1F3864"/>
                </a:solidFill>
              </a:rPr>
              <a:t>totr</a:t>
            </a:r>
            <a:r>
              <a:rPr lang="en-US" sz="1900">
                <a:solidFill>
                  <a:srgbClr val="1F3864"/>
                </a:solidFill>
              </a:rPr>
              <a:t> </a:t>
            </a:r>
            <a:r>
              <a:rPr i="1" lang="en-US" sz="1900">
                <a:solidFill>
                  <a:srgbClr val="1F3864"/>
                </a:solidFill>
              </a:rPr>
              <a:t>(Total precipitation)</a:t>
            </a:r>
            <a:r>
              <a:rPr lang="en-US" sz="1900">
                <a:solidFill>
                  <a:srgbClr val="1F3864"/>
                </a:solidFill>
              </a:rPr>
              <a:t> — Cumulative precipitation (rain/snow equivalent) over the period.</a:t>
            </a:r>
            <a:endParaRPr sz="1900">
              <a:solidFill>
                <a:srgbClr val="1F386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entury Gothic"/>
              <a:buChar char="●"/>
            </a:pPr>
            <a:r>
              <a:rPr b="1" lang="en-US" sz="1900">
                <a:solidFill>
                  <a:srgbClr val="1F3864"/>
                </a:solidFill>
              </a:rPr>
              <a:t>arid_acc</a:t>
            </a:r>
            <a:r>
              <a:rPr lang="en-US" sz="1900">
                <a:solidFill>
                  <a:srgbClr val="1F3864"/>
                </a:solidFill>
              </a:rPr>
              <a:t> </a:t>
            </a:r>
            <a:r>
              <a:rPr i="1" lang="en-US" sz="1900">
                <a:solidFill>
                  <a:srgbClr val="1F3864"/>
                </a:solidFill>
              </a:rPr>
              <a:t>(Accumulated aridity index)</a:t>
            </a:r>
            <a:r>
              <a:rPr lang="en-US" sz="1900">
                <a:solidFill>
                  <a:srgbClr val="1F3864"/>
                </a:solidFill>
              </a:rPr>
              <a:t> — Measure of dryness based on precipitation relative to atmospheric demand; higher values indicate drier conditions.</a:t>
            </a:r>
            <a:endParaRPr sz="1900">
              <a:solidFill>
                <a:srgbClr val="1F386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entury Gothic"/>
              <a:buChar char="●"/>
            </a:pPr>
            <a:r>
              <a:rPr b="1" lang="en-US" sz="1900">
                <a:solidFill>
                  <a:srgbClr val="1F3864"/>
                </a:solidFill>
              </a:rPr>
              <a:t>gdd_b10</a:t>
            </a:r>
            <a:r>
              <a:rPr lang="en-US" sz="1900">
                <a:solidFill>
                  <a:srgbClr val="1F3864"/>
                </a:solidFill>
              </a:rPr>
              <a:t> </a:t>
            </a:r>
            <a:r>
              <a:rPr i="1" lang="en-US" sz="1900">
                <a:solidFill>
                  <a:srgbClr val="1F3864"/>
                </a:solidFill>
              </a:rPr>
              <a:t>(Growing Degree Days, base 10°F)</a:t>
            </a:r>
            <a:r>
              <a:rPr lang="en-US" sz="1900">
                <a:solidFill>
                  <a:srgbClr val="1F3864"/>
                </a:solidFill>
              </a:rPr>
              <a:t> — Heat accumulation above 10°F used to estimate crop development.</a:t>
            </a:r>
            <a:endParaRPr sz="1900">
              <a:solidFill>
                <a:srgbClr val="1F3864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900"/>
              <a:buFont typeface="Century Gothic"/>
              <a:buChar char="●"/>
            </a:pPr>
            <a:r>
              <a:rPr b="1" lang="en-US" sz="1900">
                <a:solidFill>
                  <a:srgbClr val="1F3864"/>
                </a:solidFill>
              </a:rPr>
              <a:t>gdd_b44</a:t>
            </a:r>
            <a:r>
              <a:rPr lang="en-US" sz="1900">
                <a:solidFill>
                  <a:srgbClr val="1F3864"/>
                </a:solidFill>
              </a:rPr>
              <a:t> </a:t>
            </a:r>
            <a:r>
              <a:rPr i="1" lang="en-US" sz="1900">
                <a:solidFill>
                  <a:srgbClr val="1F3864"/>
                </a:solidFill>
              </a:rPr>
              <a:t>(Growing Degree Days, base 44°F)</a:t>
            </a:r>
            <a:r>
              <a:rPr lang="en-US" sz="1900">
                <a:solidFill>
                  <a:srgbClr val="1F3864"/>
                </a:solidFill>
              </a:rPr>
              <a:t> — Heat accumulation above 44°F used for modeling crop growth stages.</a:t>
            </a:r>
            <a:endParaRPr sz="1900">
              <a:solidFill>
                <a:srgbClr val="1F386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1F38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- Soil Data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68775" y="1552575"/>
            <a:ext cx="10515600" cy="48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3864"/>
                </a:solidFill>
              </a:rPr>
              <a:t>USDA gSSURGO provides detailed soil properties, including slope, water table depth, water storage capacity, bedrock depth, and ponding frequency. </a:t>
            </a:r>
            <a:endParaRPr sz="1976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F3864"/>
                </a:solidFill>
              </a:rPr>
              <a:t>Variables: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slopegradwta (Average slope (%) 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wtdepannmin  (Annual minimum depth to water table 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wtdepaprjumin (Spring (Apr–Jun) water table depth 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aws0100wta (Available water (0–100 cm) 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aws050wta (Available water (0–50 cm) 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brockdepmin (Depth to bedrock )</a:t>
            </a:r>
            <a:endParaRPr sz="2300">
              <a:solidFill>
                <a:srgbClr val="1F3864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300"/>
              <a:buChar char="•"/>
            </a:pPr>
            <a:r>
              <a:rPr lang="en-US" sz="2300">
                <a:solidFill>
                  <a:srgbClr val="1F3864"/>
                </a:solidFill>
              </a:rPr>
              <a:t>pondfreqprs (Ponding frequency )</a:t>
            </a:r>
            <a:endParaRPr sz="230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Modeling Methodology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838200" y="1530625"/>
            <a:ext cx="10515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Goal: Predict the Acreage level with regression model</a:t>
            </a:r>
            <a:endParaRPr sz="2500">
              <a:solidFill>
                <a:srgbClr val="1F3864"/>
              </a:solidFill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431613" y="3050980"/>
            <a:ext cx="3452700" cy="2292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Planting Strategy </a:t>
            </a:r>
            <a:r>
              <a:rPr b="1" lang="en-US" sz="1600"/>
              <a:t>Classification</a:t>
            </a:r>
            <a:r>
              <a:rPr b="1" lang="en-US" sz="1600"/>
              <a:t> Model:</a:t>
            </a:r>
            <a:endParaRPr b="1" sz="1600"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Feature extraction</a:t>
            </a:r>
            <a:endParaRPr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Generate label for regression model</a:t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4394027" y="3050980"/>
            <a:ext cx="3452700" cy="2292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Acreage</a:t>
            </a:r>
            <a:r>
              <a:rPr b="1" lang="en-US" sz="1600"/>
              <a:t> Regression (Linear):</a:t>
            </a:r>
            <a:endParaRPr b="1"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Regress the log transformed acreage on the features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Verify the selected features’ </a:t>
            </a:r>
            <a:r>
              <a:rPr lang="en-US"/>
              <a:t>forecastability</a:t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8356425" y="3050980"/>
            <a:ext cx="3452700" cy="2292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Non-Linear Model:</a:t>
            </a:r>
            <a:endParaRPr b="1"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Retrain the model using tree-based model</a:t>
            </a:r>
            <a:endParaRPr/>
          </a:p>
        </p:txBody>
      </p:sp>
      <p:cxnSp>
        <p:nvCxnSpPr>
          <p:cNvPr id="152" name="Google Shape;152;p23"/>
          <p:cNvCxnSpPr>
            <a:stCxn id="149" idx="3"/>
            <a:endCxn id="150" idx="1"/>
          </p:cNvCxnSpPr>
          <p:nvPr/>
        </p:nvCxnSpPr>
        <p:spPr>
          <a:xfrm>
            <a:off x="3884313" y="4196980"/>
            <a:ext cx="50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3"/>
          <p:cNvCxnSpPr>
            <a:stCxn id="150" idx="3"/>
            <a:endCxn id="151" idx="1"/>
          </p:cNvCxnSpPr>
          <p:nvPr/>
        </p:nvCxnSpPr>
        <p:spPr>
          <a:xfrm>
            <a:off x="7846727" y="4196980"/>
            <a:ext cx="50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838200" y="1530625"/>
            <a:ext cx="10515600" cy="29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Timeline split with 2022 as the cutoff, </a:t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Since </a:t>
            </a:r>
            <a:r>
              <a:rPr lang="en-US" sz="2500">
                <a:solidFill>
                  <a:srgbClr val="1F3864"/>
                </a:solidFill>
              </a:rPr>
              <a:t>the data is not i.i.d. we assume the more recent data reflect more validation power</a:t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Training set: 2008-2022 (~88%)</a:t>
            </a:r>
            <a:endParaRPr sz="2500">
              <a:solidFill>
                <a:srgbClr val="1F386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500"/>
              <a:buChar char="-"/>
            </a:pPr>
            <a:r>
              <a:rPr lang="en-US" sz="2500">
                <a:solidFill>
                  <a:srgbClr val="1F3864"/>
                </a:solidFill>
              </a:rPr>
              <a:t>Validation set: 2023-2024 (~12%)</a:t>
            </a:r>
            <a:endParaRPr sz="2500">
              <a:solidFill>
                <a:srgbClr val="1F3864"/>
              </a:solidFill>
            </a:endParaRPr>
          </a:p>
        </p:txBody>
      </p:sp>
      <p:sp>
        <p:nvSpPr>
          <p:cNvPr id="159" name="Google Shape;159;p24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Feature Selection - Train/test </a:t>
            </a:r>
            <a:r>
              <a:rPr lang="en-US" sz="4800">
                <a:solidFill>
                  <a:srgbClr val="C00000"/>
                </a:solidFill>
              </a:rPr>
              <a:t>Split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Classification Model - Catboost</a:t>
            </a:r>
            <a:endParaRPr b="0" sz="4800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Goal:</a:t>
            </a:r>
            <a:r>
              <a:rPr b="0" lang="en-US" sz="3000">
                <a:solidFill>
                  <a:srgbClr val="000000"/>
                </a:solidFill>
              </a:rPr>
              <a:t> 1) Generate polygon level label 2) feature selection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838200" y="1530625"/>
            <a:ext cx="10515600" cy="4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We selected CatBoosting for three advantages:</a:t>
            </a:r>
            <a:endParaRPr sz="2000">
              <a:solidFill>
                <a:srgbClr val="1F3864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AutoNum type="arabicPeriod"/>
            </a:pPr>
            <a:r>
              <a:rPr lang="en-US" sz="2000">
                <a:solidFill>
                  <a:srgbClr val="1F3864"/>
                </a:solidFill>
              </a:rPr>
              <a:t>Robust accuracy (vs KNN) </a:t>
            </a:r>
            <a:endParaRPr sz="2000">
              <a:solidFill>
                <a:srgbClr val="1F3864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AutoNum type="arabicPeriod"/>
            </a:pPr>
            <a:r>
              <a:rPr lang="en-US" sz="2000">
                <a:solidFill>
                  <a:srgbClr val="1F3864"/>
                </a:solidFill>
              </a:rPr>
              <a:t>Training efficiency (vs LSTM)</a:t>
            </a:r>
            <a:endParaRPr sz="2000">
              <a:solidFill>
                <a:srgbClr val="1F3864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000"/>
              <a:buAutoNum type="arabicPeriod"/>
            </a:pPr>
            <a:r>
              <a:rPr lang="en-US" sz="2000">
                <a:solidFill>
                  <a:srgbClr val="1F3864"/>
                </a:solidFill>
              </a:rPr>
              <a:t>Model’s built-in feature importance served as the feature selection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124" y="3145000"/>
            <a:ext cx="7766349" cy="29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838200" y="365125"/>
            <a:ext cx="109203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Classification Model - Catboost VS KNN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838200" y="1530625"/>
            <a:ext cx="105156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We noticed Catboost is </a:t>
            </a:r>
            <a:r>
              <a:rPr lang="en-US" sz="2000">
                <a:solidFill>
                  <a:srgbClr val="1F3864"/>
                </a:solidFill>
              </a:rPr>
              <a:t>slightly</a:t>
            </a:r>
            <a:r>
              <a:rPr lang="en-US" sz="2000">
                <a:solidFill>
                  <a:srgbClr val="1F3864"/>
                </a:solidFill>
              </a:rPr>
              <a:t> better than KNN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(Confusion matrix)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True Continuous:  F1 (~96.12% vs ~95.92%)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True Rotation: F1 (~80.41% vs ~76.90%)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True Complex/Mixed: F1 (~82.52% vs ~81.12%)</a:t>
            </a:r>
            <a:endParaRPr sz="2000">
              <a:solidFill>
                <a:srgbClr val="1F3864"/>
              </a:solidFill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2829466"/>
            <a:ext cx="4618850" cy="3548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7150" y="2829466"/>
            <a:ext cx="4618850" cy="3548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838200" y="1530625"/>
            <a:ext cx="6479400" cy="28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accuracy (~87.0% vs ~85.7%)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precision — macro (~87.40% vs ~84.82%)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recall — macro (~86.62% vs ~84.68%)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F1 — macro (~86.35% vs ~84.64%)</a:t>
            </a:r>
            <a:endParaRPr sz="2000">
              <a:solidFill>
                <a:srgbClr val="1F386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3864"/>
                </a:solidFill>
              </a:rPr>
              <a:t>ROC AUC — macro (~96.87% vs ~94.99%)</a:t>
            </a:r>
            <a:endParaRPr sz="2000">
              <a:solidFill>
                <a:srgbClr val="1F3864"/>
              </a:solidFill>
            </a:endParaRPr>
          </a:p>
        </p:txBody>
      </p:sp>
      <p:sp>
        <p:nvSpPr>
          <p:cNvPr id="180" name="Google Shape;180;p27"/>
          <p:cNvSpPr txBox="1"/>
          <p:nvPr>
            <p:ph type="title"/>
          </p:nvPr>
        </p:nvSpPr>
        <p:spPr>
          <a:xfrm>
            <a:off x="838200" y="365125"/>
            <a:ext cx="107049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Classification Model - Catboost VS KNN</a:t>
            </a:r>
            <a:endParaRPr b="0" sz="4800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Goal:</a:t>
            </a:r>
            <a:r>
              <a:rPr b="0" lang="en-US" sz="3000">
                <a:solidFill>
                  <a:srgbClr val="000000"/>
                </a:solidFill>
              </a:rPr>
              <a:t> 1) Generate polygon level label 2) feature selection</a:t>
            </a:r>
            <a:endParaRPr/>
          </a:p>
        </p:txBody>
      </p:sp>
      <p:pic>
        <p:nvPicPr>
          <p:cNvPr id="181" name="Google Shape;181;p27" title="Screenshot 2026-04-29 at 22.09.43.png"/>
          <p:cNvPicPr preferRelativeResize="0"/>
          <p:nvPr/>
        </p:nvPicPr>
        <p:blipFill rotWithShape="1">
          <a:blip r:embed="rId3">
            <a:alphaModFix/>
          </a:blip>
          <a:srcRect b="16798" l="0" r="34379" t="0"/>
          <a:stretch/>
        </p:blipFill>
        <p:spPr>
          <a:xfrm>
            <a:off x="7317675" y="1607775"/>
            <a:ext cx="4480150" cy="43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975" y="3975552"/>
            <a:ext cx="6683700" cy="2220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C00000"/>
                </a:solidFill>
              </a:rPr>
              <a:t>Classification Model - Deep Learning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887" y="4072828"/>
            <a:ext cx="4308336" cy="2374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6801" y="4072837"/>
            <a:ext cx="4308323" cy="2374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8439" y="1381235"/>
            <a:ext cx="3095360" cy="27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838200" y="1530625"/>
            <a:ext cx="7377000" cy="28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We trained LSTM model for classification</a:t>
            </a:r>
            <a:endParaRPr sz="1800">
              <a:solidFill>
                <a:srgbClr val="1F3864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LSTM specification:</a:t>
            </a:r>
            <a:endParaRPr sz="1800">
              <a:solidFill>
                <a:srgbClr val="1F3864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Hidden layer = 2 (since simple model yields good result)</a:t>
            </a:r>
            <a:endParaRPr sz="1800">
              <a:solidFill>
                <a:srgbClr val="1F3864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# Epoch: 500 (due to computational </a:t>
            </a:r>
            <a:r>
              <a:rPr lang="en-US" sz="1800">
                <a:solidFill>
                  <a:srgbClr val="1F3864"/>
                </a:solidFill>
              </a:rPr>
              <a:t>constraints</a:t>
            </a:r>
            <a:r>
              <a:rPr lang="en-US" sz="1800">
                <a:solidFill>
                  <a:srgbClr val="1F3864"/>
                </a:solidFill>
              </a:rPr>
              <a:t>)</a:t>
            </a:r>
            <a:endParaRPr sz="1800">
              <a:solidFill>
                <a:srgbClr val="1F3864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Sample size: 50000 (cpu crashed beyond this level)</a:t>
            </a:r>
            <a:endParaRPr sz="1800">
              <a:solidFill>
                <a:srgbClr val="1F3864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Batch size: 64; Optimizer: Adam</a:t>
            </a:r>
            <a:endParaRPr sz="1800">
              <a:solidFill>
                <a:srgbClr val="1F3864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Loss: Entropy; drop_out: False</a:t>
            </a:r>
            <a:endParaRPr sz="1800">
              <a:solidFill>
                <a:srgbClr val="1F3864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Lstm tends to memorize instead of generalize</a:t>
            </a:r>
            <a:endParaRPr sz="1800">
              <a:solidFill>
                <a:srgbClr val="1F3864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Char char="-"/>
            </a:pPr>
            <a:r>
              <a:rPr lang="en-US" sz="1800">
                <a:solidFill>
                  <a:srgbClr val="1F3864"/>
                </a:solidFill>
              </a:rPr>
              <a:t>We prefer simple tree-based model over a deep model</a:t>
            </a:r>
            <a:endParaRPr sz="180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640475" y="82838"/>
            <a:ext cx="105156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00000"/>
                </a:solidFill>
              </a:rPr>
              <a:t>Baseline MLR Model</a:t>
            </a:r>
            <a:r>
              <a:rPr lang="en-US" sz="4800">
                <a:solidFill>
                  <a:srgbClr val="C00000"/>
                </a:solidFill>
              </a:rPr>
              <a:t> </a:t>
            </a:r>
            <a:endParaRPr sz="4800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</a:rPr>
              <a:t>Goal:</a:t>
            </a:r>
            <a:r>
              <a:rPr lang="en-US" sz="3000">
                <a:solidFill>
                  <a:srgbClr val="000000"/>
                </a:solidFill>
              </a:rPr>
              <a:t> Build an interpretable baseline model for crop acreage prediction 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640475" y="1909425"/>
            <a:ext cx="10515600" cy="390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Response variable:</a:t>
            </a:r>
            <a:br>
              <a:rPr b="1"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 log(1 + acreage_area_proxy)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Predictors included:</a:t>
            </a:r>
            <a:endParaRPr b="1" sz="20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-US" sz="2000">
                <a:solidFill>
                  <a:srgbClr val="000000"/>
                </a:solidFill>
              </a:rPr>
              <a:t>Crop type and year</a:t>
            </a:r>
            <a:endParaRPr sz="20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-US" sz="2000">
                <a:solidFill>
                  <a:srgbClr val="000000"/>
                </a:solidFill>
              </a:rPr>
              <a:t>Soil features</a:t>
            </a:r>
            <a:endParaRPr sz="20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-US" sz="2000">
                <a:solidFill>
                  <a:srgbClr val="000000"/>
                </a:solidFill>
              </a:rPr>
              <a:t>Weather variables</a:t>
            </a:r>
            <a:endParaRPr sz="20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-US" sz="2000">
                <a:solidFill>
                  <a:srgbClr val="000000"/>
                </a:solidFill>
              </a:rPr>
              <a:t>County-level rotation strategy features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425" y="1583162"/>
            <a:ext cx="6818400" cy="34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668700" y="241363"/>
            <a:ext cx="105156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00000"/>
                </a:solidFill>
              </a:rPr>
              <a:t>Model Performance</a:t>
            </a:r>
            <a:endParaRPr b="1" sz="4800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668700" y="990850"/>
            <a:ext cx="10515600" cy="470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</a:rPr>
              <a:t>Metric                                         Value 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RMSE                                          1.574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MAE                                            1.218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R²                                                 0.653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Adjusted R²                                  0.649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MSE on original acreage scale    1.24 × 10¹⁵ </a:t>
            </a:r>
            <a:endParaRPr sz="3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541">
                <a:solidFill>
                  <a:srgbClr val="000000"/>
                </a:solidFill>
              </a:rPr>
              <a:t>Interpretation:</a:t>
            </a:r>
            <a:br>
              <a:rPr b="1" lang="en-US" sz="2541">
                <a:solidFill>
                  <a:srgbClr val="000000"/>
                </a:solidFill>
              </a:rPr>
            </a:br>
            <a:r>
              <a:rPr lang="en-US" sz="2850">
                <a:solidFill>
                  <a:srgbClr val="000000"/>
                </a:solidFill>
              </a:rPr>
              <a:t>The model explains about </a:t>
            </a:r>
            <a:r>
              <a:rPr b="1" lang="en-US" sz="2850">
                <a:solidFill>
                  <a:srgbClr val="000000"/>
                </a:solidFill>
              </a:rPr>
              <a:t>65%</a:t>
            </a:r>
            <a:r>
              <a:rPr lang="en-US" sz="2850">
                <a:solidFill>
                  <a:srgbClr val="000000"/>
                </a:solidFill>
              </a:rPr>
              <a:t> of the variation in log-transformed acreage. The log-scale RMSE is </a:t>
            </a:r>
            <a:r>
              <a:rPr b="1" lang="en-US" sz="2850">
                <a:solidFill>
                  <a:srgbClr val="000000"/>
                </a:solidFill>
              </a:rPr>
              <a:t>1.574</a:t>
            </a:r>
            <a:r>
              <a:rPr lang="en-US" sz="2850">
                <a:solidFill>
                  <a:srgbClr val="000000"/>
                </a:solidFill>
              </a:rPr>
              <a:t> .The original-scale MSE is large because acreage values are large and squared errors amplify large prediction gaps. </a:t>
            </a:r>
            <a:endParaRPr sz="28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838200" y="-554926"/>
            <a:ext cx="10515600" cy="2757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C00000"/>
                </a:solidFill>
              </a:rPr>
              <a:t>Actual vs Predicted Log Acreage</a:t>
            </a:r>
            <a:endParaRPr b="1" sz="37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Main observations:</a:t>
            </a:r>
            <a:endParaRPr sz="20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-US" sz="2000">
                <a:solidFill>
                  <a:srgbClr val="000000"/>
                </a:solidFill>
              </a:rPr>
              <a:t>Predictions follow the general increasing trend.</a:t>
            </a:r>
            <a:endParaRPr sz="20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en-US" sz="2000">
                <a:solidFill>
                  <a:srgbClr val="000000"/>
                </a:solidFill>
              </a:rPr>
              <a:t>Many points are close to the 45-degree reference line.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The spread is still large, especially in middle and high acreage ranges.</a:t>
            </a:r>
            <a:r>
              <a:rPr lang="en-US" sz="1900">
                <a:solidFill>
                  <a:srgbClr val="000000"/>
                </a:solidFill>
              </a:rPr>
              <a:t> </a:t>
            </a:r>
            <a:endParaRPr sz="6800"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7362300" y="3331575"/>
            <a:ext cx="3991500" cy="287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Interpretation:</a:t>
            </a:r>
            <a:br>
              <a:rPr b="1"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 MLR captures broad acreage patterns but misses some detailed variation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                                                                       </a:t>
            </a:r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25" y="2330088"/>
            <a:ext cx="66675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838200" y="0"/>
            <a:ext cx="10515600" cy="3960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22"/>
              <a:t>Model Diagnostics</a:t>
            </a:r>
            <a:endParaRPr sz="5222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1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311">
                <a:solidFill>
                  <a:srgbClr val="000000"/>
                </a:solidFill>
              </a:rPr>
              <a:t>Residual diagnostics show model limitations:</a:t>
            </a:r>
            <a:endParaRPr b="1" sz="2311">
              <a:solidFill>
                <a:srgbClr val="000000"/>
              </a:solidFill>
            </a:endParaRPr>
          </a:p>
          <a:p>
            <a:pPr indent="-35496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ct val="95673"/>
              <a:buChar char="●"/>
            </a:pPr>
            <a:r>
              <a:rPr lang="en-US" sz="2311">
                <a:solidFill>
                  <a:srgbClr val="000000"/>
                </a:solidFill>
              </a:rPr>
              <a:t>Residuals are not randomly scattered.</a:t>
            </a:r>
            <a:endParaRPr sz="2311">
              <a:solidFill>
                <a:srgbClr val="000000"/>
              </a:solidFill>
            </a:endParaRPr>
          </a:p>
          <a:p>
            <a:pPr indent="-3549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673"/>
              <a:buChar char="●"/>
            </a:pPr>
            <a:r>
              <a:rPr lang="en-US" sz="2311">
                <a:solidFill>
                  <a:srgbClr val="000000"/>
                </a:solidFill>
              </a:rPr>
              <a:t>Error spread increases at higher fitted values.</a:t>
            </a:r>
            <a:endParaRPr sz="2311">
              <a:solidFill>
                <a:srgbClr val="000000"/>
              </a:solidFill>
            </a:endParaRPr>
          </a:p>
          <a:p>
            <a:pPr indent="-3549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673"/>
              <a:buChar char="●"/>
            </a:pPr>
            <a:r>
              <a:rPr lang="en-US" sz="2311">
                <a:solidFill>
                  <a:srgbClr val="000000"/>
                </a:solidFill>
              </a:rPr>
              <a:t>QQ plot shows tail deviations.</a:t>
            </a:r>
            <a:endParaRPr sz="2311">
              <a:solidFill>
                <a:srgbClr val="000000"/>
              </a:solidFill>
            </a:endParaRPr>
          </a:p>
          <a:p>
            <a:pPr indent="-3549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673"/>
              <a:buChar char="●"/>
            </a:pPr>
            <a:r>
              <a:rPr lang="en-US" sz="2311">
                <a:solidFill>
                  <a:srgbClr val="000000"/>
                </a:solidFill>
              </a:rPr>
              <a:t>Some extreme acreage cases are not well captured.</a:t>
            </a:r>
            <a:endParaRPr sz="231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838200" y="3392525"/>
            <a:ext cx="6311700" cy="287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0000"/>
                </a:solidFill>
              </a:rPr>
              <a:t>Implication:</a:t>
            </a:r>
            <a:endParaRPr b="1"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</a:rPr>
              <a:t>Heteroskedasticity.</a:t>
            </a:r>
            <a:r>
              <a:rPr lang="en-US" sz="1800">
                <a:solidFill>
                  <a:srgbClr val="000000"/>
                </a:solidFill>
              </a:rPr>
              <a:t>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</a:rPr>
              <a:t>The model overpredicts acreage for some observations.</a:t>
            </a:r>
            <a:r>
              <a:rPr lang="en-US" sz="1800">
                <a:solidFill>
                  <a:srgbClr val="000000"/>
                </a:solidFill>
              </a:rPr>
              <a:t>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</a:rPr>
              <a:t>These diagnostics suggest that crop acreage is likely affected by nonlinear relationships or interaction effects that a standard linear model cannot fully capture.</a:t>
            </a:r>
            <a:r>
              <a:rPr lang="en-US" sz="1800">
                <a:solidFill>
                  <a:srgbClr val="000000"/>
                </a:solidFill>
              </a:rPr>
              <a:t>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218" name="Google Shape;2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675" y="70225"/>
            <a:ext cx="4978101" cy="30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2788" y="3209925"/>
            <a:ext cx="4659874" cy="28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761625" y="140325"/>
            <a:ext cx="10515600" cy="5337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00000"/>
                </a:solidFill>
              </a:rPr>
              <a:t>Coefficient Insights</a:t>
            </a:r>
            <a:endParaRPr b="1" sz="48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86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67">
                <a:solidFill>
                  <a:srgbClr val="000000"/>
                </a:solidFill>
              </a:rPr>
              <a:t>Stronger positive associations:</a:t>
            </a:r>
            <a:endParaRPr b="1" sz="1867">
              <a:solidFill>
                <a:srgbClr val="000000"/>
              </a:solidFill>
            </a:endParaRPr>
          </a:p>
          <a:p>
            <a:pPr indent="-340784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67"/>
              <a:buChar char="●"/>
            </a:pPr>
            <a:r>
              <a:rPr lang="en-US" sz="1867">
                <a:solidFill>
                  <a:srgbClr val="000000"/>
                </a:solidFill>
              </a:rPr>
              <a:t>aws050wta (available water storage in the top 50 cm of soil)</a:t>
            </a:r>
            <a:endParaRPr sz="1867">
              <a:solidFill>
                <a:srgbClr val="000000"/>
              </a:solidFill>
            </a:endParaRPr>
          </a:p>
          <a:p>
            <a:pPr indent="-340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7"/>
              <a:buChar char="●"/>
            </a:pPr>
            <a:r>
              <a:rPr lang="en-US" sz="1867">
                <a:solidFill>
                  <a:srgbClr val="000000"/>
                </a:solidFill>
              </a:rPr>
              <a:t>avg_p_complex_mixed (average probability of complex or mixed planting strategy)</a:t>
            </a:r>
            <a:endParaRPr sz="186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67">
                <a:solidFill>
                  <a:srgbClr val="C00000"/>
                </a:solidFill>
              </a:rPr>
              <a:t> </a:t>
            </a:r>
            <a:r>
              <a:rPr b="1" lang="en-US" sz="1867">
                <a:solidFill>
                  <a:srgbClr val="000000"/>
                </a:solidFill>
              </a:rPr>
              <a:t>Stronger negative associations:</a:t>
            </a:r>
            <a:endParaRPr b="1" sz="1867">
              <a:solidFill>
                <a:srgbClr val="000000"/>
              </a:solidFill>
            </a:endParaRPr>
          </a:p>
          <a:p>
            <a:pPr indent="-340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7"/>
              <a:buChar char="●"/>
            </a:pPr>
            <a:r>
              <a:rPr lang="en-US" sz="1867">
                <a:solidFill>
                  <a:srgbClr val="000000"/>
                </a:solidFill>
              </a:rPr>
              <a:t>gdd_b44 (growing degree days above base 44°F)</a:t>
            </a:r>
            <a:endParaRPr sz="1867">
              <a:solidFill>
                <a:srgbClr val="000000"/>
              </a:solidFill>
            </a:endParaRPr>
          </a:p>
          <a:p>
            <a:pPr indent="-340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7"/>
              <a:buChar char="●"/>
            </a:pPr>
            <a:r>
              <a:rPr lang="en-US" sz="1867">
                <a:solidFill>
                  <a:srgbClr val="000000"/>
                </a:solidFill>
              </a:rPr>
              <a:t>slopegradwta (weighted average land slope)</a:t>
            </a:r>
            <a:endParaRPr sz="1867">
              <a:solidFill>
                <a:srgbClr val="000000"/>
              </a:solidFill>
            </a:endParaRPr>
          </a:p>
          <a:p>
            <a:pPr indent="-34078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7"/>
              <a:buChar char="●"/>
            </a:pPr>
            <a:r>
              <a:rPr lang="en-US" sz="1867">
                <a:solidFill>
                  <a:srgbClr val="000000"/>
                </a:solidFill>
              </a:rPr>
              <a:t>arid_acc (aridity accumulation index)</a:t>
            </a:r>
            <a:endParaRPr sz="186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C00000"/>
              </a:solidFill>
            </a:endParaRPr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6685925" y="3209925"/>
            <a:ext cx="4661400" cy="273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575" y="3266125"/>
            <a:ext cx="5786975" cy="33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838200" y="-126425"/>
            <a:ext cx="10515600" cy="417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00000"/>
                </a:solidFill>
              </a:rPr>
              <a:t>Takeaway from Initial MLR</a:t>
            </a:r>
            <a:endParaRPr b="1" sz="48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</a:rPr>
              <a:t>What this baseline tells us:</a:t>
            </a:r>
            <a:endParaRPr b="1" sz="22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200">
                <a:solidFill>
                  <a:srgbClr val="000000"/>
                </a:solidFill>
              </a:rPr>
              <a:t>Soil, weather, crop, and rotation features explain meaningful acreage variation.</a:t>
            </a:r>
            <a:endParaRPr sz="22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200">
                <a:solidFill>
                  <a:srgbClr val="000000"/>
                </a:solidFill>
              </a:rPr>
              <a:t>Rotation strategy features add useful management-pattern information.</a:t>
            </a:r>
            <a:endParaRPr sz="22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200">
                <a:solidFill>
                  <a:srgbClr val="000000"/>
                </a:solidFill>
              </a:rPr>
              <a:t>MLR is interpretable but limited.</a:t>
            </a:r>
            <a:endParaRPr sz="2200">
              <a:solidFill>
                <a:srgbClr val="00000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-US" sz="2200">
                <a:solidFill>
                  <a:srgbClr val="000000"/>
                </a:solidFill>
              </a:rPr>
              <a:t>Residual patterns suggest nonlinear or interaction effects.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831850" y="3209925"/>
            <a:ext cx="10515600" cy="287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</a:rPr>
              <a:t>Next step: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</a:rPr>
              <a:t>This motivates the next modeling stage, where more flexible models can better capture nonlinear relationships and interaction effects. 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838200" y="569851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n-US" sz="5980"/>
              <a:t>Random Forest Regression</a:t>
            </a:r>
            <a:endParaRPr sz="59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838200" y="2042425"/>
            <a:ext cx="10515600" cy="452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-US" sz="2400">
                <a:solidFill>
                  <a:srgbClr val="000000"/>
                </a:solidFill>
              </a:rPr>
              <a:t>Preprocess data:</a:t>
            </a:r>
            <a:r>
              <a:rPr lang="en-US" sz="2400">
                <a:solidFill>
                  <a:srgbClr val="000000"/>
                </a:solidFill>
              </a:rPr>
              <a:t> Load merged dataset, drop missing values, define predictors (exclude target and IDs)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-US" sz="2400">
                <a:solidFill>
                  <a:srgbClr val="000000"/>
                </a:solidFill>
              </a:rPr>
              <a:t>Prepare per crop:</a:t>
            </a:r>
            <a:r>
              <a:rPr lang="en-US" sz="2400">
                <a:solidFill>
                  <a:srgbClr val="000000"/>
                </a:solidFill>
              </a:rPr>
              <a:t> Filter by crop, log-transform acreage, split into train/test (80/20)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-US" sz="2400">
                <a:solidFill>
                  <a:srgbClr val="000000"/>
                </a:solidFill>
              </a:rPr>
              <a:t>Train model:</a:t>
            </a:r>
            <a:r>
              <a:rPr lang="en-US" sz="2400">
                <a:solidFill>
                  <a:srgbClr val="000000"/>
                </a:solidFill>
              </a:rPr>
              <a:t> Fit RandomForestRegressor (100 trees) for each crop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-US" sz="2400">
                <a:solidFill>
                  <a:srgbClr val="000000"/>
                </a:solidFill>
              </a:rPr>
              <a:t>Evaluate:</a:t>
            </a:r>
            <a:r>
              <a:rPr lang="en-US" sz="2400">
                <a:solidFill>
                  <a:srgbClr val="000000"/>
                </a:solidFill>
              </a:rPr>
              <a:t> Compute test R-squared and RMSE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-US" sz="2400">
                <a:solidFill>
                  <a:srgbClr val="000000"/>
                </a:solidFill>
              </a:rPr>
              <a:t>Interpret &amp; output:</a:t>
            </a:r>
            <a:r>
              <a:rPr lang="en-US" sz="2400">
                <a:solidFill>
                  <a:srgbClr val="000000"/>
                </a:solidFill>
              </a:rPr>
              <a:t> Extract feature importance, rank models, and save results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838200" y="344651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Predictive accuracy </a:t>
            </a:r>
            <a:endParaRPr b="0"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838200" y="1530625"/>
            <a:ext cx="10515600" cy="452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Very high predictive performance across crops: </a:t>
            </a:r>
            <a:r>
              <a:rPr lang="en-US" sz="2500">
                <a:solidFill>
                  <a:srgbClr val="000000"/>
                </a:solidFill>
              </a:rPr>
              <a:t>The top Random Forest models achieve </a:t>
            </a:r>
            <a:r>
              <a:rPr lang="en-US" sz="2400">
                <a:solidFill>
                  <a:srgbClr val="000000"/>
                </a:solidFill>
              </a:rPr>
              <a:t>test </a:t>
            </a:r>
            <a:r>
              <a:rPr lang="en-US" sz="2500">
                <a:solidFill>
                  <a:srgbClr val="000000"/>
                </a:solidFill>
              </a:rPr>
              <a:t>R</a:t>
            </a:r>
            <a:r>
              <a:rPr lang="en-US" sz="2400">
                <a:solidFill>
                  <a:srgbClr val="000000"/>
                </a:solidFill>
              </a:rPr>
              <a:t>-squared values between 0.82 and 0.98</a:t>
            </a:r>
            <a:r>
              <a:rPr lang="en-US" sz="2500">
                <a:solidFill>
                  <a:srgbClr val="000000"/>
                </a:solidFill>
              </a:rPr>
              <a:t>, meaning the predictors explain </a:t>
            </a:r>
            <a:r>
              <a:rPr lang="en-US" sz="2400">
                <a:solidFill>
                  <a:srgbClr val="000000"/>
                </a:solidFill>
              </a:rPr>
              <a:t>82%–98% of the variation in crop acreage</a:t>
            </a:r>
            <a:r>
              <a:rPr lang="en-US" sz="2500">
                <a:solidFill>
                  <a:srgbClr val="000000"/>
                </a:solidFill>
              </a:rPr>
              <a:t>. For example, </a:t>
            </a:r>
            <a:r>
              <a:rPr lang="en-US" sz="2400">
                <a:solidFill>
                  <a:srgbClr val="000000"/>
                </a:solidFill>
              </a:rPr>
              <a:t>Corn has test </a:t>
            </a:r>
            <a:r>
              <a:rPr lang="en-US" sz="2500">
                <a:solidFill>
                  <a:srgbClr val="000000"/>
                </a:solidFill>
              </a:rPr>
              <a:t>R-squared=0..9834, indicating extremely accurate predictions.</a:t>
            </a:r>
            <a:endParaRPr sz="2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3398300"/>
            <a:ext cx="10515601" cy="28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4000"/>
              <a:t>Feature Importance</a:t>
            </a:r>
            <a:endParaRPr b="0"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  <p:sp>
        <p:nvSpPr>
          <p:cNvPr id="251" name="Google Shape;251;p37"/>
          <p:cNvSpPr txBox="1"/>
          <p:nvPr>
            <p:ph idx="1" type="body"/>
          </p:nvPr>
        </p:nvSpPr>
        <p:spPr>
          <a:xfrm>
            <a:off x="6735175" y="1530625"/>
            <a:ext cx="4618500" cy="545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90525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63589"/>
              <a:buChar char="•"/>
            </a:pPr>
            <a:r>
              <a:rPr b="1" lang="en-US" sz="1834">
                <a:solidFill>
                  <a:srgbClr val="000000"/>
                </a:solidFill>
              </a:rPr>
              <a:t>Soil and geographic factors are the most influential predictors: </a:t>
            </a:r>
            <a:r>
              <a:rPr lang="en-US" sz="1934">
                <a:solidFill>
                  <a:srgbClr val="000000"/>
                </a:solidFill>
              </a:rPr>
              <a:t>For the best-performing model (</a:t>
            </a:r>
            <a:r>
              <a:rPr lang="en-US" sz="1834">
                <a:solidFill>
                  <a:srgbClr val="000000"/>
                </a:solidFill>
              </a:rPr>
              <a:t>Crop Code 1</a:t>
            </a:r>
            <a:r>
              <a:rPr lang="en-US" sz="1934">
                <a:solidFill>
                  <a:srgbClr val="000000"/>
                </a:solidFill>
              </a:rPr>
              <a:t>), the most important variable is </a:t>
            </a:r>
            <a:r>
              <a:rPr lang="en-US" sz="1734">
                <a:solidFill>
                  <a:srgbClr val="000000"/>
                </a:solidFill>
              </a:rPr>
              <a:t>Shape_Area</a:t>
            </a:r>
            <a:r>
              <a:rPr lang="en-US" sz="1834">
                <a:solidFill>
                  <a:srgbClr val="000000"/>
                </a:solidFill>
              </a:rPr>
              <a:t> (importance ≈ 0.423)</a:t>
            </a:r>
            <a:r>
              <a:rPr lang="en-US" sz="1934">
                <a:solidFill>
                  <a:srgbClr val="000000"/>
                </a:solidFill>
              </a:rPr>
              <a:t>, followed by several </a:t>
            </a:r>
            <a:r>
              <a:rPr lang="en-US" sz="1834">
                <a:solidFill>
                  <a:srgbClr val="000000"/>
                </a:solidFill>
              </a:rPr>
              <a:t>soil characteristics</a:t>
            </a:r>
            <a:r>
              <a:rPr lang="en-US" sz="1934">
                <a:solidFill>
                  <a:srgbClr val="000000"/>
                </a:solidFill>
              </a:rPr>
              <a:t> such as water table depth, available water storage, and slope. These results suggest that </a:t>
            </a:r>
            <a:r>
              <a:rPr lang="en-US" sz="1834">
                <a:solidFill>
                  <a:srgbClr val="000000"/>
                </a:solidFill>
              </a:rPr>
              <a:t>land characteristics strongly influence crop acreage allocation</a:t>
            </a:r>
            <a:r>
              <a:rPr lang="en-US" sz="1934">
                <a:solidFill>
                  <a:srgbClr val="000000"/>
                </a:solidFill>
              </a:rPr>
              <a:t>.</a:t>
            </a:r>
            <a:endParaRPr sz="1934">
              <a:solidFill>
                <a:srgbClr val="000000"/>
              </a:solidFill>
            </a:endParaRPr>
          </a:p>
          <a:p>
            <a:pPr indent="-3905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3589"/>
              <a:buChar char="•"/>
            </a:pPr>
            <a:r>
              <a:rPr b="1" lang="en-US" sz="1834">
                <a:solidFill>
                  <a:srgbClr val="000000"/>
                </a:solidFill>
              </a:rPr>
              <a:t>Weather variables play a smaller role in this model: </a:t>
            </a:r>
            <a:r>
              <a:rPr lang="en-US" sz="1934">
                <a:solidFill>
                  <a:srgbClr val="000000"/>
                </a:solidFill>
              </a:rPr>
              <a:t>Although weather variables were included in the predictors, their importance scores are relatively lower (e.g., </a:t>
            </a:r>
            <a:r>
              <a:rPr lang="en-US" sz="1734">
                <a:solidFill>
                  <a:srgbClr val="000000"/>
                </a:solidFill>
              </a:rPr>
              <a:t>totr</a:t>
            </a:r>
            <a:r>
              <a:rPr lang="en-US" sz="1834">
                <a:solidFill>
                  <a:srgbClr val="000000"/>
                </a:solidFill>
              </a:rPr>
              <a:t> ≈ 0.017</a:t>
            </a:r>
            <a:r>
              <a:rPr lang="en-US" sz="1934">
                <a:solidFill>
                  <a:srgbClr val="000000"/>
                </a:solidFill>
              </a:rPr>
              <a:t>). This suggests that </a:t>
            </a:r>
            <a:r>
              <a:rPr lang="en-US" sz="1834">
                <a:solidFill>
                  <a:srgbClr val="000000"/>
                </a:solidFill>
              </a:rPr>
              <a:t>soil properties and land area may be more important determinants of acreage for this crop than short-term weather conditions</a:t>
            </a:r>
            <a:r>
              <a:rPr lang="en-US" sz="1934">
                <a:solidFill>
                  <a:srgbClr val="000000"/>
                </a:solidFill>
              </a:rPr>
              <a:t>.</a:t>
            </a:r>
            <a:endParaRPr sz="1934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30625"/>
            <a:ext cx="5794599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>
            <p:ph type="title"/>
          </p:nvPr>
        </p:nvSpPr>
        <p:spPr>
          <a:xfrm>
            <a:off x="838200" y="672201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US" sz="4000"/>
              <a:t>Uncertainty Quantification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838200" y="1530625"/>
            <a:ext cx="10515600" cy="452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-US" sz="2300">
                <a:solidFill>
                  <a:srgbClr val="000000"/>
                </a:solidFill>
              </a:rPr>
              <a:t>Method:</a:t>
            </a:r>
            <a:r>
              <a:rPr lang="en-US" sz="2300">
                <a:solidFill>
                  <a:srgbClr val="000000"/>
                </a:solidFill>
              </a:rPr>
              <a:t> Use </a:t>
            </a:r>
            <a:r>
              <a:rPr b="1" lang="en-US" sz="2300">
                <a:solidFill>
                  <a:srgbClr val="000000"/>
                </a:solidFill>
              </a:rPr>
              <a:t>out-of-bag (OOB) residuals</a:t>
            </a:r>
            <a:r>
              <a:rPr lang="en-US" sz="2300">
                <a:solidFill>
                  <a:srgbClr val="000000"/>
                </a:solidFill>
              </a:rPr>
              <a:t> from Random Forest to estimate uncertainty without retraining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-US" sz="2300">
                <a:solidFill>
                  <a:srgbClr val="000000"/>
                </a:solidFill>
              </a:rPr>
              <a:t>Residual distribution:</a:t>
            </a:r>
            <a:r>
              <a:rPr lang="en-US" sz="2300">
                <a:solidFill>
                  <a:srgbClr val="000000"/>
                </a:solidFill>
              </a:rPr>
              <a:t> Compute empirical distribution of OOB residuals (prediction errors)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-US" sz="2300">
                <a:solidFill>
                  <a:srgbClr val="000000"/>
                </a:solidFill>
              </a:rPr>
              <a:t>Prediction intervals:</a:t>
            </a:r>
            <a:r>
              <a:rPr lang="en-US" sz="2300">
                <a:solidFill>
                  <a:srgbClr val="000000"/>
                </a:solidFill>
              </a:rPr>
              <a:t> Construct intervals by adding/subtracting residual quantiles (e.g., 2.5% and 97.5%) to point predictions</a:t>
            </a:r>
            <a:endParaRPr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-US" sz="2300">
                <a:solidFill>
                  <a:srgbClr val="000000"/>
                </a:solidFill>
              </a:rPr>
              <a:t>Evaluation metrics:</a:t>
            </a:r>
            <a:r>
              <a:rPr lang="en-US" sz="2300">
                <a:solidFill>
                  <a:srgbClr val="000000"/>
                </a:solidFill>
              </a:rPr>
              <a:t> Assess uncertainty using </a:t>
            </a:r>
            <a:r>
              <a:rPr b="1" lang="en-US" sz="2300">
                <a:solidFill>
                  <a:srgbClr val="000000"/>
                </a:solidFill>
              </a:rPr>
              <a:t>coverage</a:t>
            </a:r>
            <a:r>
              <a:rPr lang="en-US" sz="2300">
                <a:solidFill>
                  <a:srgbClr val="000000"/>
                </a:solidFill>
              </a:rPr>
              <a:t> (≈95% target) and </a:t>
            </a:r>
            <a:r>
              <a:rPr b="1" lang="en-US" sz="2300">
                <a:solidFill>
                  <a:srgbClr val="000000"/>
                </a:solidFill>
              </a:rPr>
              <a:t>interval width</a:t>
            </a:r>
            <a:endParaRPr b="1" sz="2300">
              <a:solidFill>
                <a:srgbClr val="000000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-US" sz="2300">
                <a:solidFill>
                  <a:srgbClr val="000000"/>
                </a:solidFill>
              </a:rPr>
              <a:t>Outcome:</a:t>
            </a:r>
            <a:r>
              <a:rPr lang="en-US" sz="2300">
                <a:solidFill>
                  <a:srgbClr val="000000"/>
                </a:solidFill>
              </a:rPr>
              <a:t> Produces well-calibrated, low-width prediction intervals with near-nominal coverage</a:t>
            </a:r>
            <a:endParaRPr sz="23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7779225" y="1883400"/>
            <a:ext cx="3329100" cy="430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 residual distributions clearly show that Random Forest provides unbiased, low-variance predictions.</a:t>
            </a:r>
            <a:endParaRPr sz="260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71575"/>
            <a:ext cx="6855463" cy="452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9"/>
          <p:cNvSpPr txBox="1"/>
          <p:nvPr>
            <p:ph type="title"/>
          </p:nvPr>
        </p:nvSpPr>
        <p:spPr>
          <a:xfrm>
            <a:off x="838200" y="672201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US" sz="4000"/>
              <a:t>Uncertainty Quantification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325" y="1279850"/>
            <a:ext cx="9075351" cy="389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838200" y="5312637"/>
            <a:ext cx="11260500" cy="161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48">
                <a:solidFill>
                  <a:srgbClr val="000000"/>
                </a:solidFill>
              </a:rPr>
              <a:t>Random Forest provides well-calibrated prediction intervals with near-nominal coverage (94.9%) and the narrowest widths, indicating both reliability and precision.</a:t>
            </a:r>
            <a:endParaRPr sz="4948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0"/>
          <p:cNvSpPr txBox="1"/>
          <p:nvPr>
            <p:ph type="title"/>
          </p:nvPr>
        </p:nvSpPr>
        <p:spPr>
          <a:xfrm>
            <a:off x="838200" y="672201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US"/>
              <a:t>Random Forest Result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idx="1" type="body"/>
          </p:nvPr>
        </p:nvSpPr>
        <p:spPr>
          <a:xfrm>
            <a:off x="7779225" y="1685400"/>
            <a:ext cx="3636000" cy="416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Random Forest consistently delivers well-calibrated and precise prediction intervals across all crops.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700" y="1584975"/>
            <a:ext cx="6451125" cy="457020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/>
          <p:nvPr>
            <p:ph type="title"/>
          </p:nvPr>
        </p:nvSpPr>
        <p:spPr>
          <a:xfrm>
            <a:off x="838200" y="672201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US"/>
              <a:t>Random Forest Result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838200" y="365126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838200" y="2042425"/>
            <a:ext cx="10515600" cy="452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Random Forest regression achieves </a:t>
            </a:r>
            <a:r>
              <a:rPr b="1" lang="en-US" sz="2400">
                <a:solidFill>
                  <a:srgbClr val="000000"/>
                </a:solidFill>
              </a:rPr>
              <a:t>high predictive accuracy and low uncertainty</a:t>
            </a:r>
            <a:r>
              <a:rPr lang="en-US" sz="2400">
                <a:solidFill>
                  <a:srgbClr val="000000"/>
                </a:solidFill>
              </a:rPr>
              <a:t> by capturing nonlinear patterns through ensemble learning, yielding strong out-of-sample performance (high test R-squared,  low RMSE). Its use of OOB residuals enables efficient construction of prediction intervals with </a:t>
            </a:r>
            <a:r>
              <a:rPr b="1" lang="en-US" sz="2400">
                <a:solidFill>
                  <a:srgbClr val="000000"/>
                </a:solidFill>
              </a:rPr>
              <a:t>near-nominal coverage and narrow widths</a:t>
            </a:r>
            <a:r>
              <a:rPr lang="en-US" sz="2400">
                <a:solidFill>
                  <a:srgbClr val="000000"/>
                </a:solidFill>
              </a:rPr>
              <a:t>, indicating precise and well-calibrated uncertainty estimates.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 txBox="1"/>
          <p:nvPr>
            <p:ph type="title"/>
          </p:nvPr>
        </p:nvSpPr>
        <p:spPr>
          <a:xfrm>
            <a:off x="838200" y="365126"/>
            <a:ext cx="10515600" cy="1095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Key Findings</a:t>
            </a:r>
            <a:endParaRPr/>
          </a:p>
        </p:txBody>
      </p:sp>
      <p:sp>
        <p:nvSpPr>
          <p:cNvPr id="291" name="Google Shape;291;p43"/>
          <p:cNvSpPr txBox="1"/>
          <p:nvPr>
            <p:ph idx="1" type="body"/>
          </p:nvPr>
        </p:nvSpPr>
        <p:spPr>
          <a:xfrm>
            <a:off x="838200" y="1530625"/>
            <a:ext cx="10515600" cy="45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b="1" lang="en-US" sz="2300">
                <a:solidFill>
                  <a:schemeClr val="dk1"/>
                </a:solidFill>
              </a:rPr>
              <a:t>Pipeline:</a:t>
            </a:r>
            <a:r>
              <a:rPr lang="en-US" sz="2300">
                <a:solidFill>
                  <a:schemeClr val="dk1"/>
                </a:solidFill>
              </a:rPr>
              <a:t> Multi-stage feature engineering integrating crop sequence history, weather, soil and spatial data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b="1" lang="en-US" sz="2300">
                <a:solidFill>
                  <a:schemeClr val="dk1"/>
                </a:solidFill>
              </a:rPr>
              <a:t>Key insight:</a:t>
            </a:r>
            <a:r>
              <a:rPr lang="en-US" sz="2300">
                <a:solidFill>
                  <a:schemeClr val="dk1"/>
                </a:solidFill>
              </a:rPr>
              <a:t> Agriculture is highly autocorrelated and environmentally dependent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b="1" lang="en-US" sz="2300">
                <a:solidFill>
                  <a:schemeClr val="dk1"/>
                </a:solidFill>
              </a:rPr>
              <a:t>Crop classification:</a:t>
            </a:r>
            <a:r>
              <a:rPr lang="en-US" sz="2300">
                <a:solidFill>
                  <a:schemeClr val="dk1"/>
                </a:solidFill>
              </a:rPr>
              <a:t> CatBoost chosen for interpretability (87% accuracy); LSTM achieves 91.92% but at cost of transparency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b="1" lang="en-US" sz="2300">
                <a:solidFill>
                  <a:schemeClr val="dk1"/>
                </a:solidFill>
              </a:rPr>
              <a:t>Acreage Estimation:</a:t>
            </a:r>
            <a:r>
              <a:rPr lang="en-US" sz="2300">
                <a:solidFill>
                  <a:schemeClr val="dk1"/>
                </a:solidFill>
              </a:rPr>
              <a:t> Baseline MLR explains ~65% of variance, motivating the shift the nonlinear models. Random Forest achieves R² up to 0.98, providing unbiased low-variance predictions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type="title"/>
          </p:nvPr>
        </p:nvSpPr>
        <p:spPr>
          <a:xfrm>
            <a:off x="838200" y="434726"/>
            <a:ext cx="10515600" cy="1095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Area For Improvement</a:t>
            </a:r>
            <a:endParaRPr/>
          </a:p>
        </p:txBody>
      </p:sp>
      <p:sp>
        <p:nvSpPr>
          <p:cNvPr id="297" name="Google Shape;297;p44"/>
          <p:cNvSpPr txBox="1"/>
          <p:nvPr>
            <p:ph idx="1" type="body"/>
          </p:nvPr>
        </p:nvSpPr>
        <p:spPr>
          <a:xfrm>
            <a:off x="838200" y="1530625"/>
            <a:ext cx="10515600" cy="452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Data Limitations</a:t>
            </a:r>
            <a:endParaRPr b="1" sz="2200"/>
          </a:p>
          <a:p>
            <a:pPr indent="-357823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CSB annual data smooths out monthly seasonality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County-level aggregation loses field-level granularity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M</a:t>
            </a:r>
            <a:r>
              <a:rPr b="1" lang="en-US" sz="2200"/>
              <a:t>odel Limitations</a:t>
            </a:r>
            <a:endParaRPr b="1" sz="2200"/>
          </a:p>
          <a:p>
            <a:pPr indent="-357823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Deep learning limited to 50K samples (full dataset: 5.9M)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CNN/RNN struggles with crop type prediction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Random Forest trained independently per crop type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Future Directions</a:t>
            </a:r>
            <a:endParaRPr b="1" sz="2200"/>
          </a:p>
          <a:p>
            <a:pPr indent="-357823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Satellite imagery &amp; Vegetation Index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Transformer/GNN architectures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Unified multi-output model for cross-crop dependencies</a:t>
            </a:r>
            <a:endParaRPr sz="220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200"/>
              <a:t>Conformal prediction for uncertainty quantification</a:t>
            </a:r>
            <a:endParaRPr sz="2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/>
          <p:cNvSpPr txBox="1"/>
          <p:nvPr>
            <p:ph type="title"/>
          </p:nvPr>
        </p:nvSpPr>
        <p:spPr>
          <a:xfrm>
            <a:off x="838200" y="365126"/>
            <a:ext cx="10515600" cy="1095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Acknowledgements/Thanks</a:t>
            </a:r>
            <a:endParaRPr/>
          </a:p>
        </p:txBody>
      </p:sp>
      <p:sp>
        <p:nvSpPr>
          <p:cNvPr id="303" name="Google Shape;303;p45"/>
          <p:cNvSpPr txBox="1"/>
          <p:nvPr>
            <p:ph idx="1" type="body"/>
          </p:nvPr>
        </p:nvSpPr>
        <p:spPr>
          <a:xfrm>
            <a:off x="838200" y="1530625"/>
            <a:ext cx="10515600" cy="45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We would like to thank our advisors for their guidance and support throughout this project: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>
                <a:solidFill>
                  <a:schemeClr val="dk1"/>
                </a:solidFill>
              </a:rPr>
              <a:t>Luca Sartore, Ph.D.</a:t>
            </a:r>
            <a:r>
              <a:rPr lang="en-US">
                <a:solidFill>
                  <a:schemeClr val="dk1"/>
                </a:solidFill>
              </a:rPr>
              <a:t> NISS Contractor (Senior Research Fellow), U.S. Department of Agriculture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US">
                <a:solidFill>
                  <a:schemeClr val="dk1"/>
                </a:solidFill>
              </a:rPr>
              <a:t>David Ruppert, Ph.D.</a:t>
            </a:r>
            <a:r>
              <a:rPr lang="en-US">
                <a:solidFill>
                  <a:schemeClr val="dk1"/>
                </a:solidFill>
              </a:rPr>
              <a:t> Andrew Schultz Jr. Professor of Engineering and Professor of Statistics and Data Science at Cornell University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838200" y="365126"/>
            <a:ext cx="10515600" cy="1095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32025"/>
              </a:buClr>
              <a:buSzPts val="4000"/>
              <a:buFont typeface="Arial"/>
              <a:buNone/>
            </a:pPr>
            <a:r>
              <a:rPr lang="en-US"/>
              <a:t>Appendix</a:t>
            </a:r>
            <a:endParaRPr/>
          </a:p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>
            <a:off x="838200" y="1530625"/>
            <a:ext cx="10515600" cy="4522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reference: </a:t>
            </a:r>
            <a:endParaRPr sz="11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US" sz="2000">
                <a:solidFill>
                  <a:schemeClr val="dk1"/>
                </a:solidFill>
              </a:rPr>
              <a:t>https://www.osc.ny.gov/reports/new-york-farms-and-farmland-decrease-higher-rate-nationally-2025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n-US" sz="2000">
                <a:solidFill>
                  <a:srgbClr val="000000"/>
                </a:solidFill>
              </a:rPr>
              <a:t>https://www.dtnpf.com/agriculture/web/ag/crops/article/2023/07/31/farmers-know-production-costs-higher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A4048"/>
              </a:buClr>
              <a:buSzPts val="3000"/>
              <a:buNone/>
            </a:pPr>
            <a:r>
              <a:rPr lang="en-US" sz="2000">
                <a:solidFill>
                  <a:srgbClr val="000000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eCornell">
      <a:dk1>
        <a:srgbClr val="3A4048"/>
      </a:dk1>
      <a:lt1>
        <a:srgbClr val="FFFFFF"/>
      </a:lt1>
      <a:dk2>
        <a:srgbClr val="616467"/>
      </a:dk2>
      <a:lt2>
        <a:srgbClr val="E7E6E6"/>
      </a:lt2>
      <a:accent1>
        <a:srgbClr val="B21A1A"/>
      </a:accent1>
      <a:accent2>
        <a:srgbClr val="B21A1A"/>
      </a:accent2>
      <a:accent3>
        <a:srgbClr val="4B7D92"/>
      </a:accent3>
      <a:accent4>
        <a:srgbClr val="639AB0"/>
      </a:accent4>
      <a:accent5>
        <a:srgbClr val="DCDCDC"/>
      </a:accent5>
      <a:accent6>
        <a:srgbClr val="F2F2F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